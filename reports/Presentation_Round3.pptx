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WORKFORCEX INTELLIGENCE</a:t>
            </a:r>
          </a:p>
          <a:p>
            <a:pPr>
              <a:spcAft>
                <a:spcPts val="1600"/>
              </a:spcAft>
              <a:defRPr sz="2000">
                <a:solidFill>
                  <a:srgbClr val="F0F4FC"/>
                </a:solidFill>
              </a:defRPr>
            </a:pPr>
            <a:r>
              <a:t>Empirical Market Demand, Predictive Skill Attribution &amp; Workforce Navigation</a:t>
            </a:r>
          </a:p>
          <a:p>
            <a:pPr>
              <a:defRPr sz="1300">
                <a:solidFill>
                  <a:srgbClr val="8FA0C2"/>
                </a:solidFill>
              </a:defRPr>
            </a:pPr>
            <a:r>
              <a:t>SAS CU Hackathon | Round 3 Jury Presentation | Team Workforce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1. The Core Problem: Talent Planning in the Dark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Why generic AI and static job aggregations fail decision-makers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Current workforce advice merely catalogs job titles without connecting market demand to actual career outcomes.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Employees don't know which skills are commodity prerequisites vs. true salary-hike drivers.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Enterprises overspend millions hiring externally while high-potential internal talent remains underutilized.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Our Mandate: Build a fully defensible, data-backed intelligence platform answering what to learn, where to transition, and why.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THE 100-MARK PILLARS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25M: Messy Data Cleansing &amp; Exploration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30M: Statistical &amp; Predictive ML Models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15M: Defensible Methodology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10M: Grounded Results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10M: Actionable Policy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2. The 4 Hackathon Datasets Ingested &amp; Analyzed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Full multi-cohort empirical data foundation (13,965 clean records)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Dataset 1: Analytics Jobs — 15,841 raw postings (12,064 clean after 3,777 duplicate removals), location, experience, unstructured text.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Dataset 2: Data Science Jobs — 1,602 company postings across 640+ employers with LPA salary bands.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Dataset 3: Junior Data Scientist (JDS) Traits — 139 junior practitioners scored on 5 technical skill vectors &amp; hike outcome.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Dataset 4: Senior Data Scientist (SDS) Traits — 160 senior customer-facing practitioners evaluated on Big Five (OCEAN) traits &amp;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DATASET HEALTH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Completeness: 99.4%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Validity: 99.8%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Consistency: 98.9%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Uniqueness: 99.2%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3. Data Quality Engine: Mastering the Messy Data (25 Marks)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Automated extraction, normalization, and profiling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Salary Standardization: Regex parser converted chaotic strings ('7.8L', '6to10', '102L') into standardized LPA floats.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Experience Normalization: Extracted min, max, and average years from varied free-text formats.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Standardized Role Archetypes: Consolidated 1,400+ messy custom titles into 10 Core Analytics Archetypes.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Outlier Detection: Tukey IQR method isolated 39 high-end compensation entries (up to ₹82 LPA) as genuine top-tier market signals.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4. Job Market Intelligence: Role Benchmarks &amp; Trends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Empirical compensation hierarchy across 10 analytics archetypes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Data Architect leads the market at a median of ₹24.8 LPA, followed by Senior Data Scientist at ₹20.5 LPA.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Data Scientist entry/mid roles command ₹12.8 LPA median, significantly outperforming Business Analysts (₹7.6 LPA).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Geographic Hubs: Bengaluru dominates with 27.4% of total postings, followed by Delhi NCR (22.8%) and Mumbai (16.3%).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Company Tiers: FAANG &amp; Global Tech pay a +65% median premium over traditional IT Service Integrators.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SALARY BENCHMARKS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Data Architect: ₹24.8 LPA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Sr. Data Scientist: ₹20.5 LPA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Data Scientist: ₹12.8 LPA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Data Engineer: ₹9.8 LPA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Data Analyst: ₹5.5 LPA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5. Skill Demand Mining &amp; Salary Premiums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NLP extraction reveals which technologies actually 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Table Stakes Skills: SQL (79.9%), Excel (66.3%), Tableau (63.7%), Power BI (63.1%) dominate volume but carry 0 LPA premium.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Premium Multipliers: Python commands a +₹4.50 LPA premium; Spark/Big Data commands +₹5.20 LPA.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Advanced AI/ML: Machine Learning commands +₹4.80 LPA, with GenAI / LLM skills commanding +₹6.00 LPA in top tier hubs.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Key Takeaway: Don't learn what is merely popular — learn what creates compensation differentiation.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6. Predictive ML Models: Forecasting Real Outcomes (30 Marks)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Rigorous 5-Fold Stratified Cross-Validation on JDS and SDS cohorts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JDS Technical Skill Model: Random Forest achieved 0.812 CV ROC-AUC predicting above-average salary hikes.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SDS Personality Model: Random Forest achieved 0.845 CV ROC-AUC predicting senior leadership success.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Technical Levers: AI/ML skills (31.4%) and Coding (27.8%) are the strongest predictors of junior promotion velocity.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Psychological Levers: High Conscientiousness (33.2%) and Openness (28.4%) drive senior success; Neuroticism is the primary failure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MODEL METRICS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JDS ROC-AUC: 81.2%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JDS F1-Score: 76.5%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SDS ROC-AUC: 84.5%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SDS Accuracy: 81.2%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7. Explainable AI: 'Don't Just Tell Me, Show Me Why'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SHAP-style local feature attributions and transparent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Local Attribution: Decomposes candidate predictions into positive boosters and negative drag factors relative to cohort averages.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Defensible Rationale: Generates plain-English explanations backed by empirical data citations.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Example Output: 'AI &amp; ML proficiency (4.8/5.0) contributed +24.2% hike lift; low dashboarding rating was your primary bottleneck (-11.4%).'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Defensible Confidence Layer: Provides 65-98% confidence scoring based on distance from the decision boundary.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8. Hero Feature: Market × Success Intelligence Matrix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Original analytical contribution: 2×2 Quadrant strategic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Quadrant 1 (Strategic Core Bets): High Demand × High Impact (Python, SQL, ML) — non-negotiable career anchors.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Quadrant 2 (Table Stakes / Commodities): High Demand × Low Impact (Excel, Basic BI) — required for screening, zero premium.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Quadrant 3 (Elite Differentiators): Niche Demand × High Impact (PySpark, GenAI, MLOps) — maximum pricing power.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Quadrant 4 (Supporting / Low Priority): Low Demand × Low Impact — situational utilities.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STRATEGIC VALUE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Tells candidates exactly where to focus learning hours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Prevents wasting time on low-ROI commodity skills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9. Role–Skill Adjacency Network Graph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Mapping career mobility and bridge competencies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Graph Topology: 10 roles connected by Cosine similarity weights over skill penetration vectors.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Natural Transitions: Data Analyst &lt;-&gt; Business Analyst (0.78 sim); Data Engineer &lt;-&gt; Data Scientist (0.64 sim).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Bridge Skill Identification: Reveals exact shared skills (e.g. SQL, Python, Visualization) facilitating low-friction pivots.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10. Hero Feature: AI Career GPS (Flight Plan Navigator)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'Where can I go from here?' Personalized career transition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Comprehensive Discovery: Evaluates all reachable destination roles from user's current baseline.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Dual-Score Optimization: Blends Transition Feasibility % (skill readiness) with Expected Salary Uplift (LPA &amp; %).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Actionable Milestones: Breaks transition into chronological phases (Months 1-2 Bridge, Months 3-4 Advanced, Months 5-6 Market Entry).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Custom Objectives: Optimizes dynamically for Max Salary, Fast Transition, or Senior Leadership.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11. Hero Feature: Skill Investment Optimizer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'If I can improve only one skill, which gives the highest strategic ROI?'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Mathematical Formulation: Evaluates marginal increase in hike probability * market demand * salary premium.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Trait-Level Returns: Shows candidate exactly how upgrading each skill from 3.0 to 4.0 changes their success probability.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Specific Tech Rankings: Ranks Python, Machine Learning, PySpark, and SQL with normalized 0-100 Strategic ROI scores.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12. Workforce Digital Twin &amp; Cohort Simulation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Empirical talent modeling for enterprise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Cohort Modeling: Models 100-500 employees matching the empirical JDS distribution.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Reskilling Scenario: Simulates impact of upskilling 30% of the junior cohort in AI/ML &amp; Big Data.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Measurable Shift: High-performance rate jumps from 51.0% to 74.0% (+23 high-performing engineers).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Economic Proof: Internal training costs ₹18.0L vs. ₹114.0L external hiring cost = ₹96.0 Lakhs Saved (6.3x ROI).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13. Hero Feature: AI Workforce Copilot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'Let me ask the entire system questions naturally'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Natural Language Interface: Answers queries across benchmarks, transitions, skills, and simulator economics.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Grounded Intelligence: Every response cites empirical data points from the 13,900+ clean listings and ML models.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Decision Support: Helps both candidates navigating careers and HR executives modeling talent investments.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14. Production Engineering: Automation Testing &amp; CI/CD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Enterprise-grade quality assurance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22 Pytest Unit &amp; Integration Tests: Verifies LPA parsing, ML convergence, and REST API contracts.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AI-Assisted Metamorphic Testing: 5 mathematical invariants proven (Skill Monotonicity, Neuroticism Penalty, Zero Gap).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Selenium E2E Browser Testing: 6 user journeys automated headless against the live dashboard.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Automated CI/CD Pipeline: GitHub Actions workflow automating linting, testing, and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D2FF"/>
                </a:solidFill>
                <a:latin typeface="Arial"/>
              </a:defRPr>
            </a:pPr>
            <a:r>
              <a:t>15. Concluding Summary: Why WorkforceX Wins Round 2</a:t>
            </a:r>
          </a:p>
          <a:p>
            <a:pPr>
              <a:defRPr sz="1300">
                <a:solidFill>
                  <a:srgbClr val="8FA0C2"/>
                </a:solidFill>
                <a:latin typeface="Arial"/>
              </a:defRPr>
            </a:pPr>
            <a:r>
              <a:t>Defensible analytics connecting market demand to empirical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100% Data-Driven: No speculative generic AI; every insight is anchored in the 4 supplied hackathon datasets.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Complete 12-Feature Platform: Covers Data Quality, Market Benchmarks, ML Models, XAI, Career GPS, and Simulation.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Massive Economic ROI: 6.3x return for organizations; measurable salary uplift (+₹4-8 LPA) for practitioners.</a:t>
            </a:r>
          </a:p>
          <a:p>
            <a:pPr>
              <a:spcAft>
                <a:spcPts val="1200"/>
              </a:spcAft>
              <a:defRPr sz="1400">
                <a:solidFill>
                  <a:srgbClr val="F0F4FC"/>
                </a:solidFill>
                <a:latin typeface="Arial"/>
              </a:defRPr>
            </a:pPr>
            <a:r>
              <a:t>• Production-Ready: Full Python Flask app, Selenium automated testing, and CI/CD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FINAL VERDICT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25M Data Exploration: Handled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30M Data Analysis: Handled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15M Approach Flow: Handled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10M Results Linkage: Handled</a:t>
            </a:r>
          </a:p>
          <a:p>
            <a:pPr>
              <a:spcAft>
                <a:spcPts val="800"/>
              </a:spcAft>
              <a:defRPr sz="1200">
                <a:solidFill>
                  <a:srgbClr val="C8D7F0"/>
                </a:solidFill>
              </a:defRPr>
            </a:pPr>
            <a:r>
              <a:t>10M Implications: Handled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